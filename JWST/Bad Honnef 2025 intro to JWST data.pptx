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Economica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conomica-bold.fntdata"/><Relationship Id="rId25" Type="http://schemas.openxmlformats.org/officeDocument/2006/relationships/font" Target="fonts/Economica-regular.fntdata"/><Relationship Id="rId28" Type="http://schemas.openxmlformats.org/officeDocument/2006/relationships/font" Target="fonts/Economica-boldItalic.fntdata"/><Relationship Id="rId27" Type="http://schemas.openxmlformats.org/officeDocument/2006/relationships/font" Target="fonts/Economic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924d7d6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924d7d6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064281d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064281d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eec43e98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eec43e98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064281da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064281da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eec43e98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eec43e98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eec43e98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eec43e98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eec43e98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eec43e98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eec43e98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eec43e98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eec43e98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eec43e98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eec43e98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eec43e98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064281da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064281da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eec43e98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eec43e98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eec43e98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eec43e98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eec43e98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eec43e98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eec43e987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eec43e987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eec43e987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eec43e987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eec43e987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eec43e98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eec43e987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eec43e987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54823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54823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54823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54823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jwst-docs.stsci.edu/" TargetMode="External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exoplanetarchive.ipac.caltech.edu/overview/TrES-4" TargetMode="External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exoplanetarchive.ipac.caltech.edu/overview/WASP-15" TargetMode="External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exoplanetarchive.ipac.caltech.edu/overview/WASP-80" TargetMode="External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913000" y="1245149"/>
            <a:ext cx="3318000" cy="173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JWST data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focus on transiting exoplanets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Definitions: ramps, groups (frames), integrations, exposures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jwst</a:t>
            </a:r>
            <a:r>
              <a:rPr lang="en-GB"/>
              <a:t> pipeline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Group-level noise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JWST instruments and modes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Introducing each target data set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25" y="0"/>
            <a:ext cx="8934550" cy="502568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209450" y="2285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138275" y="4224675"/>
            <a:ext cx="948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Credit: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ESA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JWST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339500"/>
            <a:ext cx="2496000" cy="3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Launch: Dec 25, 2021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Beginning of science: Summer 2022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Location: L2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6.5m main mirror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Lifetime: Max. 20+ years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700" y="444850"/>
            <a:ext cx="6215375" cy="414255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7251950" y="4600150"/>
            <a:ext cx="18177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Credit: NASA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Instruments and modes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47225"/>
            <a:ext cx="8520600" cy="3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4 instruments: </a:t>
            </a:r>
            <a:r>
              <a:rPr b="1" lang="en-GB">
                <a:solidFill>
                  <a:srgbClr val="2E75B6"/>
                </a:solidFill>
              </a:rPr>
              <a:t>NIRISS</a:t>
            </a:r>
            <a:r>
              <a:rPr b="1" lang="en-GB">
                <a:solidFill>
                  <a:srgbClr val="548235"/>
                </a:solidFill>
              </a:rPr>
              <a:t> </a:t>
            </a:r>
            <a:r>
              <a:rPr lang="en-GB"/>
              <a:t>| </a:t>
            </a:r>
            <a:r>
              <a:rPr b="1" lang="en-GB">
                <a:solidFill>
                  <a:srgbClr val="BF9000"/>
                </a:solidFill>
              </a:rPr>
              <a:t>NIRCam</a:t>
            </a:r>
            <a:r>
              <a:rPr lang="en-GB"/>
              <a:t> | </a:t>
            </a:r>
            <a:r>
              <a:rPr b="1" lang="en-GB">
                <a:solidFill>
                  <a:srgbClr val="D92063"/>
                </a:solidFill>
              </a:rPr>
              <a:t>NIRSpec</a:t>
            </a:r>
            <a:r>
              <a:rPr lang="en-GB"/>
              <a:t> | </a:t>
            </a:r>
            <a:r>
              <a:rPr b="1" lang="en-GB">
                <a:solidFill>
                  <a:srgbClr val="548235"/>
                </a:solidFill>
              </a:rPr>
              <a:t>MIRI</a:t>
            </a:r>
            <a:endParaRPr b="1">
              <a:solidFill>
                <a:srgbClr val="548235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70250"/>
            <a:ext cx="6402776" cy="32013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6560725" y="4246450"/>
            <a:ext cx="1817700" cy="6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Credit: STScI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6737"/>
            <a:ext cx="4642818" cy="142448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science images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072825"/>
            <a:ext cx="4564200" cy="6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D92063"/>
                </a:solidFill>
              </a:rPr>
              <a:t>NIRSpec</a:t>
            </a:r>
            <a:r>
              <a:rPr lang="en-GB"/>
              <a:t>/G395H, Alderson et al. 2023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4">
            <a:alphaModFix/>
          </a:blip>
          <a:srcRect b="0" l="15907" r="17531" t="0"/>
          <a:stretch/>
        </p:blipFill>
        <p:spPr>
          <a:xfrm>
            <a:off x="5026818" y="46550"/>
            <a:ext cx="3968656" cy="335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5061650" y="3400550"/>
            <a:ext cx="3968700" cy="15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E75B6"/>
                </a:solidFill>
              </a:rPr>
              <a:t>NIRISS</a:t>
            </a:r>
            <a:r>
              <a:rPr lang="en-GB"/>
              <a:t>/SOSS, Radica et al. 2023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Top: median science frame with orders highlighted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Bottom: pre-image with a filter to see the contaminants and identify the </a:t>
            </a:r>
            <a:r>
              <a:rPr lang="en-GB"/>
              <a:t>contaminant</a:t>
            </a:r>
            <a:r>
              <a:rPr lang="en-GB"/>
              <a:t>’s oder that might overlap</a:t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900" y="2801271"/>
            <a:ext cx="4564200" cy="151977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254650" y="4247450"/>
            <a:ext cx="4772100" cy="7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BF9000"/>
                </a:solidFill>
              </a:rPr>
              <a:t>NIRCam</a:t>
            </a:r>
            <a:r>
              <a:rPr lang="en-GB"/>
              <a:t>/F322W2, Ahrer et al. 2023:</a:t>
            </a:r>
            <a:br>
              <a:rPr lang="en-GB"/>
            </a:br>
            <a:r>
              <a:rPr lang="en-GB"/>
              <a:t>Two channels: SW photometry and LW spectroscopy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Instruments and modes: near-infrared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47225"/>
            <a:ext cx="8520600" cy="3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4 instruments: </a:t>
            </a:r>
            <a:r>
              <a:rPr b="1" lang="en-GB">
                <a:solidFill>
                  <a:srgbClr val="2E75B6"/>
                </a:solidFill>
              </a:rPr>
              <a:t>NIRISS</a:t>
            </a:r>
            <a:r>
              <a:rPr b="1" lang="en-GB">
                <a:solidFill>
                  <a:srgbClr val="548235"/>
                </a:solidFill>
              </a:rPr>
              <a:t> </a:t>
            </a:r>
            <a:r>
              <a:rPr lang="en-GB"/>
              <a:t>| </a:t>
            </a:r>
            <a:r>
              <a:rPr b="1" lang="en-GB">
                <a:solidFill>
                  <a:srgbClr val="BF9000"/>
                </a:solidFill>
              </a:rPr>
              <a:t>NIRCam</a:t>
            </a:r>
            <a:r>
              <a:rPr lang="en-GB"/>
              <a:t> | </a:t>
            </a:r>
            <a:r>
              <a:rPr b="1" lang="en-GB">
                <a:solidFill>
                  <a:srgbClr val="D92063"/>
                </a:solidFill>
              </a:rPr>
              <a:t>NIRSpec</a:t>
            </a:r>
            <a:r>
              <a:rPr lang="en-GB"/>
              <a:t> | </a:t>
            </a:r>
            <a:r>
              <a:rPr lang="en-GB">
                <a:solidFill>
                  <a:srgbClr val="548235"/>
                </a:solidFill>
              </a:rPr>
              <a:t>MIRI</a:t>
            </a:r>
            <a:endParaRPr>
              <a:solidFill>
                <a:srgbClr val="548235"/>
              </a:solidFill>
            </a:endParaRPr>
          </a:p>
        </p:txBody>
      </p:sp>
      <p:grpSp>
        <p:nvGrpSpPr>
          <p:cNvPr id="110" name="Google Shape;110;p19"/>
          <p:cNvGrpSpPr/>
          <p:nvPr/>
        </p:nvGrpSpPr>
        <p:grpSpPr>
          <a:xfrm>
            <a:off x="311700" y="1722225"/>
            <a:ext cx="6742300" cy="3253749"/>
            <a:chOff x="311700" y="1838625"/>
            <a:chExt cx="6742300" cy="3253749"/>
          </a:xfrm>
        </p:grpSpPr>
        <p:pic>
          <p:nvPicPr>
            <p:cNvPr id="111" name="Google Shape;111;p19"/>
            <p:cNvPicPr preferRelativeResize="0"/>
            <p:nvPr/>
          </p:nvPicPr>
          <p:blipFill rotWithShape="1">
            <a:blip r:embed="rId3">
              <a:alphaModFix/>
            </a:blip>
            <a:srcRect b="62261" l="0" r="0" t="0"/>
            <a:stretch/>
          </p:blipFill>
          <p:spPr>
            <a:xfrm>
              <a:off x="311700" y="1838625"/>
              <a:ext cx="6742299" cy="2944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9"/>
            <p:cNvPicPr preferRelativeResize="0"/>
            <p:nvPr/>
          </p:nvPicPr>
          <p:blipFill rotWithShape="1">
            <a:blip r:embed="rId3">
              <a:alphaModFix/>
            </a:blip>
            <a:srcRect b="0" l="5383" r="0" t="93422"/>
            <a:stretch/>
          </p:blipFill>
          <p:spPr>
            <a:xfrm>
              <a:off x="674950" y="4579225"/>
              <a:ext cx="6379050" cy="513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7214875" y="3905575"/>
            <a:ext cx="1722300" cy="1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Carter &amp; May et al. 2024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6872125" y="1571175"/>
            <a:ext cx="2407800" cy="1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Most used modes</a:t>
            </a:r>
            <a:endParaRPr/>
          </a:p>
        </p:txBody>
      </p:sp>
      <p:cxnSp>
        <p:nvCxnSpPr>
          <p:cNvPr id="115" name="Google Shape;115;p19"/>
          <p:cNvCxnSpPr/>
          <p:nvPr/>
        </p:nvCxnSpPr>
        <p:spPr>
          <a:xfrm flipH="1">
            <a:off x="5690575" y="1827000"/>
            <a:ext cx="1082100" cy="10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Instruments and modes: mid-infrared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311700" y="1147225"/>
            <a:ext cx="8520600" cy="3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 instruments: </a:t>
            </a:r>
            <a:r>
              <a:rPr lang="en-GB">
                <a:solidFill>
                  <a:srgbClr val="2E75B6"/>
                </a:solidFill>
              </a:rPr>
              <a:t>NIRISS</a:t>
            </a:r>
            <a:r>
              <a:rPr lang="en-GB">
                <a:solidFill>
                  <a:srgbClr val="548235"/>
                </a:solidFill>
              </a:rPr>
              <a:t> </a:t>
            </a:r>
            <a:r>
              <a:rPr lang="en-GB"/>
              <a:t>| </a:t>
            </a:r>
            <a:r>
              <a:rPr lang="en-GB">
                <a:solidFill>
                  <a:srgbClr val="BF9000"/>
                </a:solidFill>
              </a:rPr>
              <a:t>NIRCam</a:t>
            </a:r>
            <a:r>
              <a:rPr lang="en-GB"/>
              <a:t> | </a:t>
            </a:r>
            <a:r>
              <a:rPr lang="en-GB">
                <a:solidFill>
                  <a:srgbClr val="D92063"/>
                </a:solidFill>
              </a:rPr>
              <a:t>NIRSpec</a:t>
            </a:r>
            <a:r>
              <a:rPr lang="en-GB"/>
              <a:t> | </a:t>
            </a:r>
            <a:r>
              <a:rPr b="1" lang="en-GB">
                <a:solidFill>
                  <a:srgbClr val="548235"/>
                </a:solidFill>
              </a:rPr>
              <a:t>MIRI</a:t>
            </a:r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 rotWithShape="1">
          <a:blip r:embed="rId3">
            <a:alphaModFix/>
          </a:blip>
          <a:srcRect b="32446" l="0" r="0" t="0"/>
          <a:stretch/>
        </p:blipFill>
        <p:spPr>
          <a:xfrm>
            <a:off x="521175" y="1670250"/>
            <a:ext cx="6716975" cy="295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7296325" y="3824125"/>
            <a:ext cx="1722300" cy="1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Powell et al. 2024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6830850" y="315925"/>
            <a:ext cx="2211000" cy="189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JWST observation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language</a:t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6830850" y="3991875"/>
            <a:ext cx="18969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GB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https://jwst-docs.stsci.edu/</a:t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6526049" cy="460747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665625" y="748975"/>
            <a:ext cx="2803200" cy="10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jwst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pipeline provides the conversion from frame to groups to integration</a:t>
            </a:r>
            <a:endParaRPr sz="1900"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6922650" y="2473100"/>
            <a:ext cx="1896900" cy="14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You’ll receive the integration-level reduced spectra (1D spectra)</a:t>
            </a:r>
            <a:endParaRPr b="1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(Un)calibrated JWST frames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225225"/>
            <a:ext cx="8520600" cy="3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*uncal.fits:</a:t>
            </a:r>
            <a:r>
              <a:rPr lang="en-GB"/>
              <a:t> uncalibrated 2D spectra at group level, i.e. data has 4 dimensions: dispersion-direction, spatial direction, integrations and groups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*calints.fits:</a:t>
            </a:r>
            <a:r>
              <a:rPr lang="en-GB"/>
              <a:t> calibrated 2D spectra for each integration (3 dimensions: spatial, dispersion and integrations)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Spectral extraction is then similar to ground-based, e.g., subtracting the background, fitting a trace, extracting the spectrum using a standard or optimal extraction, etc. → use your favourite pipeline or write your own ;)</a:t>
            </a:r>
            <a:endParaRPr/>
          </a:p>
        </p:txBody>
      </p:sp>
      <p:cxnSp>
        <p:nvCxnSpPr>
          <p:cNvPr id="139" name="Google Shape;139;p22"/>
          <p:cNvCxnSpPr/>
          <p:nvPr/>
        </p:nvCxnSpPr>
        <p:spPr>
          <a:xfrm>
            <a:off x="3186775" y="2079100"/>
            <a:ext cx="0" cy="68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378675" y="2022100"/>
            <a:ext cx="53256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run </a:t>
            </a: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jwst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pipeline stages 1 &amp; 2 (can also be another pipeline wrapped around 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jwst pipeline e.g. Eureka!)</a:t>
            </a:r>
            <a:endParaRPr sz="1900"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418925" y="2006800"/>
            <a:ext cx="28971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500">
                <a:latin typeface="Arial"/>
                <a:ea typeface="Arial"/>
                <a:cs typeface="Arial"/>
                <a:sym typeface="Arial"/>
              </a:rPr>
              <a:t>May include steps between to reduce group-level noise</a:t>
            </a:r>
            <a:endParaRPr i="1" sz="1900"/>
          </a:p>
        </p:txBody>
      </p:sp>
      <p:sp>
        <p:nvSpPr>
          <p:cNvPr id="142" name="Google Shape;142;p22"/>
          <p:cNvSpPr txBox="1"/>
          <p:nvPr/>
        </p:nvSpPr>
        <p:spPr>
          <a:xfrm>
            <a:off x="6533500" y="333175"/>
            <a:ext cx="2227800" cy="8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Sidenote: The fits files have a maximum file size, so </a:t>
            </a:r>
            <a:r>
              <a:rPr lang="en-GB" sz="11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after </a:t>
            </a:r>
            <a:r>
              <a:rPr lang="en-GB" sz="11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they are also usually split into multiple segments.</a:t>
            </a:r>
            <a:endParaRPr sz="11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3" name="Google Shape;143;p22"/>
          <p:cNvCxnSpPr/>
          <p:nvPr/>
        </p:nvCxnSpPr>
        <p:spPr>
          <a:xfrm>
            <a:off x="8621100" y="629925"/>
            <a:ext cx="0" cy="6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note on group-level corrections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1/f noise is correlated readout noise </a:t>
            </a:r>
            <a:r>
              <a:rPr lang="en-GB" sz="2000"/>
              <a:t>(</a:t>
            </a:r>
            <a:r>
              <a:rPr b="1" lang="en-GB" sz="2000">
                <a:solidFill>
                  <a:srgbClr val="D92063"/>
                </a:solidFill>
              </a:rPr>
              <a:t>column-wise</a:t>
            </a:r>
            <a:r>
              <a:rPr lang="en-GB" sz="2000"/>
              <a:t> and </a:t>
            </a:r>
            <a:r>
              <a:rPr b="1" lang="en-GB" sz="2000">
                <a:solidFill>
                  <a:srgbClr val="BF9000"/>
                </a:solidFill>
              </a:rPr>
              <a:t>row-direction</a:t>
            </a:r>
            <a:r>
              <a:rPr lang="en-GB" sz="2000"/>
              <a:t>)</a:t>
            </a:r>
            <a:r>
              <a:rPr b="1" lang="en-GB" sz="2000"/>
              <a:t>: </a:t>
            </a:r>
            <a:r>
              <a:rPr lang="en-GB" sz="2000"/>
              <a:t>Best way is to conduct background subtraction before ramp-fitting (at *uncal.fits level)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Bias level: </a:t>
            </a:r>
            <a:r>
              <a:rPr lang="en-GB" sz="2000"/>
              <a:t>scaling </a:t>
            </a:r>
            <a:r>
              <a:rPr b="1" lang="en-GB" sz="2000">
                <a:solidFill>
                  <a:srgbClr val="D92063"/>
                </a:solidFill>
              </a:rPr>
              <a:t>may cause/correct a detector offset</a:t>
            </a:r>
            <a:endParaRPr b="1" sz="2000">
              <a:solidFill>
                <a:srgbClr val="D920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2E75B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E75B6"/>
                </a:solidFill>
              </a:rPr>
              <a:t>Background scaling:</a:t>
            </a:r>
            <a:r>
              <a:rPr b="1" lang="en-GB" sz="2000">
                <a:solidFill>
                  <a:srgbClr val="548235"/>
                </a:solidFill>
              </a:rPr>
              <a:t> </a:t>
            </a:r>
            <a:r>
              <a:rPr lang="en-GB" sz="2000"/>
              <a:t>background model from STScI of NIRISS/SOSS is not perfect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/>
              <a:t>Issues with </a:t>
            </a:r>
            <a:r>
              <a:rPr b="1" lang="en-GB" sz="2000">
                <a:solidFill>
                  <a:srgbClr val="548235"/>
                </a:solidFill>
              </a:rPr>
              <a:t>readout noise (390Hz), shadow region</a:t>
            </a:r>
            <a:r>
              <a:rPr lang="en-GB" sz="2000"/>
              <a:t>, may require group-level corrections </a:t>
            </a:r>
            <a:endParaRPr sz="2000"/>
          </a:p>
        </p:txBody>
      </p:sp>
      <p:sp>
        <p:nvSpPr>
          <p:cNvPr id="150" name="Google Shape;150;p23"/>
          <p:cNvSpPr txBox="1"/>
          <p:nvPr/>
        </p:nvSpPr>
        <p:spPr>
          <a:xfrm>
            <a:off x="1792075" y="4398750"/>
            <a:ext cx="69357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Relevant for: </a:t>
            </a:r>
            <a:r>
              <a:rPr b="1"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all</a:t>
            </a: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| </a:t>
            </a:r>
            <a:r>
              <a:rPr b="1" lang="en-GB" sz="1800">
                <a:solidFill>
                  <a:srgbClr val="2E75B6"/>
                </a:solidFill>
                <a:latin typeface="Open Sans"/>
                <a:ea typeface="Open Sans"/>
                <a:cs typeface="Open Sans"/>
                <a:sym typeface="Open Sans"/>
              </a:rPr>
              <a:t>NIRISS</a:t>
            </a:r>
            <a:r>
              <a:rPr b="1" lang="en-GB" sz="1800">
                <a:solidFill>
                  <a:srgbClr val="54823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| </a:t>
            </a:r>
            <a:r>
              <a:rPr b="1" lang="en-GB" sz="1800">
                <a:solidFill>
                  <a:srgbClr val="BF9000"/>
                </a:solidFill>
                <a:latin typeface="Open Sans"/>
                <a:ea typeface="Open Sans"/>
                <a:cs typeface="Open Sans"/>
                <a:sym typeface="Open Sans"/>
              </a:rPr>
              <a:t>NIRCam</a:t>
            </a: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| </a:t>
            </a:r>
            <a:r>
              <a:rPr b="1" lang="en-GB" sz="1800">
                <a:solidFill>
                  <a:srgbClr val="D92063"/>
                </a:solidFill>
                <a:latin typeface="Open Sans"/>
                <a:ea typeface="Open Sans"/>
                <a:cs typeface="Open Sans"/>
                <a:sym typeface="Open Sans"/>
              </a:rPr>
              <a:t>NIRSpec</a:t>
            </a: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| </a:t>
            </a:r>
            <a:r>
              <a:rPr b="1" lang="en-GB" sz="1800">
                <a:solidFill>
                  <a:srgbClr val="548235"/>
                </a:solidFill>
                <a:latin typeface="Open Sans"/>
                <a:ea typeface="Open Sans"/>
                <a:cs typeface="Open Sans"/>
                <a:sym typeface="Open Sans"/>
              </a:rPr>
              <a:t>MIRI</a:t>
            </a:r>
            <a:r>
              <a:rPr b="1" lang="en-GB" sz="1800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800">
              <a:solidFill>
                <a:srgbClr val="C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get your own JWST data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339500"/>
            <a:ext cx="4226400" cy="3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Yearly GO proposal cycle (deadline in October): Anyone can propose new observations!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Proposals are grouped by size: Very small (&lt;20h), Small (&lt;50h), Medium (&lt;130h), Large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Astronomers Proposal Tool (APT): Observation planning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4" title="Bildschirmfoto 2025-07-17 um 15.25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6775" y="1676200"/>
            <a:ext cx="4612976" cy="235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773700" y="1572300"/>
            <a:ext cx="7596600" cy="19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the JWST data sets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(ignore if you don’t want spoilers)</a:t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WASP-39b - a hot gas giant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311700" y="1225225"/>
            <a:ext cx="8520600" cy="3499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most studied exoplanet with JWST due to the </a:t>
            </a:r>
            <a:r>
              <a:rPr b="1" lang="en-GB"/>
              <a:t>Early Release Science Transiting Exoplanet Community program</a:t>
            </a:r>
            <a:r>
              <a:rPr lang="en-GB"/>
              <a:t> (ID: 1366, PI: N. Batalha, K. Stevenson, J. Bean).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Five transits available: </a:t>
            </a:r>
            <a:br>
              <a:rPr lang="en-GB"/>
            </a:br>
            <a:r>
              <a:rPr lang="en-GB"/>
              <a:t>NIRSpec/PRISM, NIRSpec/G395H, NIRCam/F322W2, NIRISS/SOSS and MIRI/LRS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WASP-39 is G7 type, quiet star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Period of 4.0553 days (Fischer et al. 2016)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Equilibrium temperature 1160 K (Mancini et al. 2018)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Pre-JWST observations showed features (e.g., see Wakeford et al. 2018)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WASP-39b - Resulting transmission spectra</a:t>
            </a:r>
            <a:endParaRPr/>
          </a:p>
        </p:txBody>
      </p:sp>
      <p:grpSp>
        <p:nvGrpSpPr>
          <p:cNvPr id="174" name="Google Shape;174;p27"/>
          <p:cNvGrpSpPr/>
          <p:nvPr/>
        </p:nvGrpSpPr>
        <p:grpSpPr>
          <a:xfrm>
            <a:off x="311701" y="1367007"/>
            <a:ext cx="5844226" cy="2798875"/>
            <a:chOff x="311700" y="1838625"/>
            <a:chExt cx="6742300" cy="3253749"/>
          </a:xfrm>
        </p:grpSpPr>
        <p:pic>
          <p:nvPicPr>
            <p:cNvPr id="175" name="Google Shape;175;p27"/>
            <p:cNvPicPr preferRelativeResize="0"/>
            <p:nvPr/>
          </p:nvPicPr>
          <p:blipFill rotWithShape="1">
            <a:blip r:embed="rId3">
              <a:alphaModFix/>
            </a:blip>
            <a:srcRect b="62261" l="0" r="0" t="0"/>
            <a:stretch/>
          </p:blipFill>
          <p:spPr>
            <a:xfrm>
              <a:off x="311700" y="1838625"/>
              <a:ext cx="6742299" cy="2944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27"/>
            <p:cNvPicPr preferRelativeResize="0"/>
            <p:nvPr/>
          </p:nvPicPr>
          <p:blipFill rotWithShape="1">
            <a:blip r:embed="rId3">
              <a:alphaModFix/>
            </a:blip>
            <a:srcRect b="0" l="5383" r="0" t="93422"/>
            <a:stretch/>
          </p:blipFill>
          <p:spPr>
            <a:xfrm>
              <a:off x="674950" y="4579225"/>
              <a:ext cx="6379050" cy="513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6155900" y="1066125"/>
            <a:ext cx="2584800" cy="37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Github: </a:t>
            </a:r>
            <a:r>
              <a:rPr lang="en-GB" sz="1500"/>
              <a:t>All data and figures from Carter &amp; May et al. 2024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Initial data releases: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Ahrer et al. 2023, Alderson et al. 2023, Feinstein et al. 2023, Rustamkulov et al. 2023</a:t>
            </a:r>
            <a:br>
              <a:rPr lang="en-GB" sz="1500"/>
            </a:br>
            <a:r>
              <a:rPr lang="en-GB" sz="1500"/>
              <a:t>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+ t</a:t>
            </a:r>
            <a:r>
              <a:rPr b="1" lang="en-GB" sz="1500"/>
              <a:t>here’s </a:t>
            </a:r>
            <a:r>
              <a:rPr b="1" lang="en-GB" sz="1500"/>
              <a:t>MIRI/LRS, all 3 reductions from </a:t>
            </a:r>
            <a:r>
              <a:rPr lang="en-GB" sz="1500"/>
              <a:t>Powell et al. 2024</a:t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TrES-4b - another hot gas giant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311700" y="1225225"/>
            <a:ext cx="446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Meech et al. 2025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Github: </a:t>
            </a:r>
            <a:r>
              <a:rPr lang="en-GB"/>
              <a:t>Tiberius spectra and Eureka! typical output after spectral extractions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Planet and stellar parameters: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https://exoplanetarchive.ipac.caltech.edu/overview/TrES-4</a:t>
            </a:r>
            <a:r>
              <a:rPr lang="en-GB"/>
              <a:t> </a:t>
            </a:r>
            <a:endParaRPr/>
          </a:p>
        </p:txBody>
      </p:sp>
      <p:pic>
        <p:nvPicPr>
          <p:cNvPr id="184" name="Google Shape;184;p28" title="transmission_spectra_r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9775" y="1225225"/>
            <a:ext cx="3632526" cy="33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WASP-15b - and </a:t>
            </a:r>
            <a:r>
              <a:rPr lang="en-GB"/>
              <a:t>another hot gas giant</a:t>
            </a:r>
            <a:r>
              <a:rPr lang="en-GB"/>
              <a:t> 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311700" y="1431325"/>
            <a:ext cx="6751800" cy="3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Kirk et al. 2025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Github:</a:t>
            </a:r>
            <a:r>
              <a:rPr lang="en-GB"/>
              <a:t> </a:t>
            </a:r>
            <a:r>
              <a:rPr lang="en-GB"/>
              <a:t>Tiberius spectrum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Planet and stellar parameters: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https://exoplanetarchive.ipac.caltech.edu/overview/WASP-15 </a:t>
            </a:r>
            <a:endParaRPr/>
          </a:p>
        </p:txBody>
      </p:sp>
      <p:pic>
        <p:nvPicPr>
          <p:cNvPr id="191" name="Google Shape;191;p29" title="WASP-15b_Tiberius_R100_R400_Eureka_comparison_Sep24.png"/>
          <p:cNvPicPr preferRelativeResize="0"/>
          <p:nvPr/>
        </p:nvPicPr>
        <p:blipFill rotWithShape="1">
          <a:blip r:embed="rId4">
            <a:alphaModFix/>
          </a:blip>
          <a:srcRect b="34789" l="0" r="0" t="32569"/>
          <a:stretch/>
        </p:blipFill>
        <p:spPr>
          <a:xfrm>
            <a:off x="3619075" y="1147225"/>
            <a:ext cx="5387775" cy="270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WASP-80b - a warm/hot gas giant (~800 K) </a:t>
            </a:r>
            <a:endParaRPr/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311700" y="1225225"/>
            <a:ext cx="416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Bell et al. 2023: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Github: </a:t>
            </a:r>
            <a:r>
              <a:rPr lang="en-GB"/>
              <a:t>stellar spectra from paper, </a:t>
            </a:r>
            <a:br>
              <a:rPr lang="en-GB"/>
            </a:br>
            <a:r>
              <a:rPr lang="en-GB"/>
              <a:t>for both emission and transmission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Planet and stellar parameters: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https://exoplanetarchive.ipac.caltech.edu/overview/WASP-80 </a:t>
            </a:r>
            <a:endParaRPr/>
          </a:p>
        </p:txBody>
      </p:sp>
      <p:pic>
        <p:nvPicPr>
          <p:cNvPr id="198" name="Google Shape;198;p30" title="Bell2023_Fig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2600" y="1299625"/>
            <a:ext cx="4358999" cy="2945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WASP-96b - the ERO target</a:t>
            </a:r>
            <a:endParaRPr/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311700" y="1225225"/>
            <a:ext cx="8718000" cy="3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Radica et al. 2023;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using the data set that was part of the Early Release </a:t>
            </a:r>
            <a:br>
              <a:rPr lang="en-GB"/>
            </a:br>
            <a:r>
              <a:rPr lang="en-GB"/>
              <a:t>Observations (the first images of JWST in July 2022)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Github: </a:t>
            </a:r>
            <a:r>
              <a:rPr lang="en-GB"/>
              <a:t>stellar spectra from exoTEDRF</a:t>
            </a:r>
            <a:br>
              <a:rPr lang="en-GB"/>
            </a:br>
            <a:r>
              <a:rPr lang="en-GB"/>
              <a:t>reduction (former supreme-spoon), </a:t>
            </a:r>
            <a:br>
              <a:rPr lang="en-GB"/>
            </a:br>
            <a:r>
              <a:rPr lang="en-GB"/>
              <a:t>including the principal component </a:t>
            </a:r>
            <a:br>
              <a:rPr lang="en-GB"/>
            </a:br>
            <a:r>
              <a:rPr lang="en-GB"/>
              <a:t>analysis (PCA) components that can </a:t>
            </a:r>
            <a:br>
              <a:rPr lang="en-GB"/>
            </a:br>
            <a:r>
              <a:rPr lang="en-GB"/>
              <a:t>be used for light curve detrending</a:t>
            </a:r>
            <a:endParaRPr/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7100" y="101025"/>
            <a:ext cx="2932600" cy="197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8475" y="2653200"/>
            <a:ext cx="4291225" cy="209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